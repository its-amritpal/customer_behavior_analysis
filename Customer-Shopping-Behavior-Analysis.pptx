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Libre Baskerville"/>
      <p:regular r:id="rId201323"/>
    </p:embeddedFont>
    <p:embeddedFont>
      <p:font typeface="Libre Baskerville Bold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7ED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product categories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180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03188"/>
            <a:ext cx="2649364" cy="26493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63677" y="1972568"/>
            <a:ext cx="518889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Features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3463677" y="2289646"/>
            <a:ext cx="5188893" cy="66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Demographics: Age, Gender, Location, Subscription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Purchases: Item, Category, Amount, Season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Behavior: Discount, Frequency, Review Rating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6119" y="4014490"/>
            <a:ext cx="4017690" cy="732830"/>
          </a:xfrm>
          <a:prstGeom prst="roundRect">
            <a:avLst>
              <a:gd name="adj" fmla="val 736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9320" y="4147691"/>
            <a:ext cx="375128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9320" y="4418186"/>
            <a:ext cx="375128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Rows · 18 columns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30192" y="4014490"/>
            <a:ext cx="4017690" cy="732830"/>
          </a:xfrm>
          <a:prstGeom prst="roundRect">
            <a:avLst>
              <a:gd name="adj" fmla="val 736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63393" y="4147691"/>
            <a:ext cx="375128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763393" y="4418186"/>
            <a:ext cx="375128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review ratings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2.1x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female customers across the dataset.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3432"/>
            <a:ext cx="3902943" cy="552748"/>
          </a:xfrm>
          <a:prstGeom prst="roundRect">
            <a:avLst>
              <a:gd name="adj" fmla="val 10772"/>
            </a:avLst>
          </a:prstGeom>
          <a:solidFill>
            <a:srgbClr val="F7EDD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66848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616398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Female: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$75,191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682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&amp; Discount Patterns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6417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by Review Rating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845097"/>
            <a:ext cx="3902943" cy="2472035"/>
          </a:xfrm>
          <a:prstGeom prst="roundRect">
            <a:avLst>
              <a:gd name="adj" fmla="val 24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258690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669902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081114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492326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903538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2714" y="1939677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89386" y="1939677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714" y="2350889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89386" y="2350889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714" y="2762101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89386" y="2762101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714" y="3173313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9386" y="3173313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714" y="3584525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89386" y="3584525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2714" y="3995738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89386" y="3995738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3.78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9701" y="146417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Discounted Products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749701" y="1845097"/>
            <a:ext cx="3902943" cy="2472035"/>
          </a:xfrm>
          <a:prstGeom prst="roundRect">
            <a:avLst>
              <a:gd name="adj" fmla="val 24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49701" y="2258690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49701" y="2669902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749701" y="3081114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749701" y="3492326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49701" y="3903538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96296" y="1939677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Item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42968" y="1939677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Discount Rate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6296" y="2350889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42968" y="2350889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50.00%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6296" y="2762101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Sneakers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42968" y="2762101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49.66%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6296" y="3173313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42968" y="3173313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49.07%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6296" y="3584525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Sweater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42968" y="3584525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48.17%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6296" y="3995738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42968" y="3995738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47.37%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Average Spend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$59.49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Non-Subscribers: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$59.87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20890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Repeat Buyers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57212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customers with &gt;5 purchases: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958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subscribed vs.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2,518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did not.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Segment Breakdown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Loyal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3,116 customers (80%)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Returning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701 customers (18%)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New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83 customers (2%)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779365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F7EDD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994422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942332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Segmentation based on purchase history frequency.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Spend Comparison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avg · Standard: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$58.46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avg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20890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per Category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572122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Clothing: Blouse, Pants, Shirt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Footwear: Sandals, Shoes, Sneakers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Outerwear: Jacket, Coat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Accessories: Jewelry, Sunglasses, Belt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7ED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71" y="91306"/>
            <a:ext cx="3307259" cy="4960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03547"/>
            <a:ext cx="4722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3925119" y="1002134"/>
            <a:ext cx="4722763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3.9K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3925119" y="1543571"/>
            <a:ext cx="4722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25119" y="2004120"/>
            <a:ext cx="4722763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3925119" y="2545556"/>
            <a:ext cx="4722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Purchase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925119" y="3006105"/>
            <a:ext cx="4722763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3.75</a:t>
            </a:r>
            <a:endParaRPr lang="en-US" sz="3150" dirty="0"/>
          </a:p>
        </p:txBody>
      </p:sp>
      <p:sp>
        <p:nvSpPr>
          <p:cNvPr id="10" name="Text 7"/>
          <p:cNvSpPr/>
          <p:nvPr/>
        </p:nvSpPr>
        <p:spPr>
          <a:xfrm>
            <a:off x="3925119" y="3547542"/>
            <a:ext cx="4722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Rating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925119" y="4008090"/>
            <a:ext cx="4722763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27%</a:t>
            </a:r>
            <a:endParaRPr lang="en-US" sz="3150" dirty="0"/>
          </a:p>
        </p:txBody>
      </p:sp>
      <p:sp>
        <p:nvSpPr>
          <p:cNvPr id="12" name="Text 9"/>
          <p:cNvSpPr/>
          <p:nvPr/>
        </p:nvSpPr>
        <p:spPr>
          <a:xfrm>
            <a:off x="3925119" y="4549527"/>
            <a:ext cx="4722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448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70993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919660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2226171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870993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3130" y="1919660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33130" y="2226171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toward "Loyal" segment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870993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9445" y="1919660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09445" y="2226171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boosts with margin control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963317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6816" y="3011984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56816" y="3318495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2963317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33130" y="3011984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733130" y="3318495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&amp; best-selling products in campaigns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2026-07-26T09:41:05Z</dcterms:created>
  <dcterms:modified xsi:type="dcterms:W3CDTF">2026-07-26T09:41:05Z</dcterms:modified>
</cp:coreProperties>
</file>